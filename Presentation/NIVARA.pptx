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embeddedFontLst>
    <p:embeddedFont>
      <p:font typeface="Instrument Sans Medium"/>
      <p:regular r:id="rId201314"/>
    </p:embeddedFont>
    <p:embeddedFont>
      <p:font typeface="Instrument Sans SemiBold"/>
      <p:regular r:id="rId201315"/>
    </p:embeddedFont>
    <p:embeddedFont>
      <p:font typeface="Instrument Sans Bold"/>
      <p:regular r:id="rId2013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EEE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image" Target="../media/image-2-2.png"/><Relationship Id="rId5" Type="http://schemas.openxmlformats.org/officeDocument/2006/relationships/image" Target="../media/image-2-3.svg"/><Relationship Id="rId6" Type="http://schemas.openxmlformats.org/officeDocument/2006/relationships/image" Target="../media/image-2-2.png"/><Relationship Id="rId7" Type="http://schemas.openxmlformats.org/officeDocument/2006/relationships/image" Target="../media/image-2-3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jpe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svg"/><Relationship Id="rId4" Type="http://schemas.openxmlformats.org/officeDocument/2006/relationships/image" Target="../media/image-6-4.png"/><Relationship Id="rId5" Type="http://schemas.openxmlformats.org/officeDocument/2006/relationships/image" Target="../media/image-6-5.svg"/><Relationship Id="rId6" Type="http://schemas.openxmlformats.org/officeDocument/2006/relationships/image" Target="../media/image-6-6.png"/><Relationship Id="rId7" Type="http://schemas.openxmlformats.org/officeDocument/2006/relationships/image" Target="../media/image-6-7.svg"/><Relationship Id="rId8" Type="http://schemas.openxmlformats.org/officeDocument/2006/relationships/image" Target="../media/image-1-2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879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13180" y="99900"/>
                </a:lnTo>
                <a:lnTo>
                  <a:pt x="8110" y="91990"/>
                </a:lnTo>
                <a:lnTo>
                  <a:pt x="4200" y="84670"/>
                </a:lnTo>
                <a:lnTo>
                  <a:pt x="2640" y="81150"/>
                </a:lnTo>
                <a:lnTo>
                  <a:pt x="1270" y="77440"/>
                </a:lnTo>
                <a:lnTo>
                  <a:pt x="490" y="74610"/>
                </a:lnTo>
                <a:lnTo>
                  <a:pt x="0" y="71480"/>
                </a:lnTo>
                <a:lnTo>
                  <a:pt x="200" y="67290"/>
                </a:lnTo>
                <a:lnTo>
                  <a:pt x="1270" y="63280"/>
                </a:lnTo>
                <a:lnTo>
                  <a:pt x="2830" y="59860"/>
                </a:lnTo>
                <a:lnTo>
                  <a:pt x="5080" y="56050"/>
                </a:lnTo>
                <a:lnTo>
                  <a:pt x="6840" y="52540"/>
                </a:lnTo>
                <a:lnTo>
                  <a:pt x="7910" y="49610"/>
                </a:lnTo>
                <a:lnTo>
                  <a:pt x="8690" y="45700"/>
                </a:lnTo>
                <a:lnTo>
                  <a:pt x="8790" y="40140"/>
                </a:lnTo>
                <a:lnTo>
                  <a:pt x="8590" y="36520"/>
                </a:lnTo>
                <a:lnTo>
                  <a:pt x="8110" y="31930"/>
                </a:lnTo>
                <a:lnTo>
                  <a:pt x="6540" y="21970"/>
                </a:lnTo>
                <a:lnTo>
                  <a:pt x="6150" y="14750"/>
                </a:lnTo>
                <a:lnTo>
                  <a:pt x="6450" y="10350"/>
                </a:lnTo>
                <a:lnTo>
                  <a:pt x="6930" y="7030"/>
                </a:lnTo>
                <a:lnTo>
                  <a:pt x="7910" y="264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570905"/>
            <a:ext cx="629686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hi-IN" altLang="en-US" sz="29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NIVARA (നിവാര / निवारा)</a:t>
            </a:r>
            <a:endParaRPr lang="hi-IN" sz="2950" dirty="0"/>
          </a:p>
        </p:txBody>
      </p:sp>
      <p:sp>
        <p:nvSpPr>
          <p:cNvPr id="4" name="Text 1"/>
          <p:cNvSpPr/>
          <p:nvPr/>
        </p:nvSpPr>
        <p:spPr>
          <a:xfrm>
            <a:off x="661475" y="1091704"/>
            <a:ext cx="6296860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3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Autonomous Civic Intelligence &amp; Closed‑Loop Municipal Accountability Network</a:t>
            </a:r>
            <a:endParaRPr lang="en-US" sz="2350" dirty="0"/>
          </a:p>
        </p:txBody>
      </p:sp>
      <p:sp>
        <p:nvSpPr>
          <p:cNvPr id="5" name="Text 2"/>
          <p:cNvSpPr/>
          <p:nvPr/>
        </p:nvSpPr>
        <p:spPr>
          <a:xfrm>
            <a:off x="661475" y="2407146"/>
            <a:ext cx="6296860" cy="6530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Transforming everyday smartphones into passive, autonomous civic watchdogs that collect tamper‑resistant photographic proof and contextual telemetry. </a:t>
            </a:r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3063"/>
                </a:solidFill>
                <a:latin typeface="Instrument Sans Bold" pitchFamily="34" charset="0"/>
                <a:ea typeface="Instrument Sans Bold" pitchFamily="34" charset="-122"/>
                <a:cs typeface="Instrument Sans Bold" pitchFamily="34" charset="-120"/>
              </a:rPr>
              <a:t>Core philosophy:</a:t>
            </a:r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"Your City. Your Proof. Your Voice." 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661475" y="3196233"/>
            <a:ext cx="3087908" cy="1046559"/>
          </a:xfrm>
          <a:prstGeom prst="roundRect">
            <a:avLst>
              <a:gd name="adj" fmla="val 13004"/>
            </a:avLst>
          </a:prstGeom>
          <a:solidFill>
            <a:srgbClr val="CEE6FD"/>
          </a:solidFill>
          <a:ln/>
        </p:spPr>
      </p:sp>
      <p:sp>
        <p:nvSpPr>
          <p:cNvPr id="7" name="Text 4"/>
          <p:cNvSpPr/>
          <p:nvPr/>
        </p:nvSpPr>
        <p:spPr>
          <a:xfrm>
            <a:off x="812680" y="3347442"/>
            <a:ext cx="2785497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Team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12680" y="3656211"/>
            <a:ext cx="2785497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Team Nivara — Developed by </a:t>
            </a:r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3063"/>
                </a:solidFill>
                <a:latin typeface="Instrument Sans Bold" pitchFamily="34" charset="0"/>
                <a:ea typeface="Instrument Sans Bold" pitchFamily="34" charset="-122"/>
                <a:cs typeface="Instrument Sans Bold" pitchFamily="34" charset="-120"/>
              </a:rPr>
              <a:t>Adithyan H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870327" y="3196233"/>
            <a:ext cx="3088007" cy="1046559"/>
          </a:xfrm>
          <a:prstGeom prst="roundRect">
            <a:avLst>
              <a:gd name="adj" fmla="val 13004"/>
            </a:avLst>
          </a:prstGeom>
          <a:solidFill>
            <a:srgbClr val="CEE6FD"/>
          </a:solidFill>
          <a:ln/>
        </p:spPr>
      </p:sp>
      <p:sp>
        <p:nvSpPr>
          <p:cNvPr id="10" name="Text 7"/>
          <p:cNvSpPr/>
          <p:nvPr/>
        </p:nvSpPr>
        <p:spPr>
          <a:xfrm>
            <a:off x="4021533" y="3347442"/>
            <a:ext cx="2785596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Track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021533" y="3656211"/>
            <a:ext cx="2785596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AppSprint 2026 · CivicTech Track · Production Release </a:t>
            </a:r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3063"/>
                </a:solidFill>
                <a:latin typeface="Instrument Sans Bold" pitchFamily="34" charset="0"/>
                <a:ea typeface="Instrument Sans Bold" pitchFamily="34" charset="-122"/>
                <a:cs typeface="Instrument Sans Bold" pitchFamily="34" charset="-120"/>
              </a:rPr>
              <a:t>v1.0.65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61475" y="4363740"/>
            <a:ext cx="6296860" cy="1046559"/>
          </a:xfrm>
          <a:prstGeom prst="roundRect">
            <a:avLst>
              <a:gd name="adj" fmla="val 13004"/>
            </a:avLst>
          </a:prstGeom>
          <a:solidFill>
            <a:srgbClr val="CEE6FD"/>
          </a:solidFill>
          <a:ln/>
        </p:spPr>
      </p:sp>
      <p:sp>
        <p:nvSpPr>
          <p:cNvPr id="13" name="Text 10"/>
          <p:cNvSpPr/>
          <p:nvPr/>
        </p:nvSpPr>
        <p:spPr>
          <a:xfrm>
            <a:off x="812680" y="4514949"/>
            <a:ext cx="5994448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Core Tech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12680" y="4823718"/>
            <a:ext cx="5994448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Flutter 3.x · Supabase PostgreSQL 15 + PostGIS · NVIDIA NIM Llama‑3.2 Vision AI · Ola Maps Vector Engine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61475" y="5546328"/>
            <a:ext cx="6296860" cy="740767"/>
          </a:xfrm>
          <a:prstGeom prst="roundRect">
            <a:avLst>
              <a:gd name="adj" fmla="val 18372"/>
            </a:avLst>
          </a:prstGeom>
          <a:solidFill>
            <a:srgbClr val="CEE6FD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80" y="5718770"/>
            <a:ext cx="189007" cy="151209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152893" y="5705078"/>
            <a:ext cx="5654236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Bridging the broken trust loop between citizens and municipal authorities through passive sensor telemetry and tamper‑proof photographic proof.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999258"/>
            <a:ext cx="4700668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2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Neighborhood Pulse — Live Metrics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61475" y="2459930"/>
            <a:ext cx="4700668" cy="1286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spcAft>
                <a:spcPts val="750"/>
              </a:spcAft>
              <a:buNone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      Real‑time counts of hazards, repairs-in-progress and active crews. Sub‑2s spatial refresh via Geolocator.getServiceStatusStream() plus app lifecycle hooks — automatic reload on resume with no pull‑to‑refresh.     </a:t>
            </a:r>
            <a:endParaRPr lang="en-US" sz="11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1E3063"/>
                </a:solidFill>
                <a:highlight>
                  <a:srgbClr val="84C1FA"/>
                </a:highlight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Feature highlight:</a:t>
            </a:r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"Zero Buffering Deadlocks · Sub‑2s Spatial Response · Hyperlocal Citizen Collaboration"</a:t>
            </a:r>
            <a:endParaRPr lang="en-US" sz="1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2112" y="705445"/>
            <a:ext cx="4366508" cy="24744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714361" y="3299420"/>
            <a:ext cx="582211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Ola Maps Dark Vector Engine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714361" y="3627140"/>
            <a:ext cx="5822110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      High‑performance vector tiles, spatial clustering, custom category pins. Proximity discovery for hospitals, police, fire, public toilets, clean water, and transit. One‑tap SOS beacon with turn‑by‑turn routing to nearest help.     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714361" y="4328716"/>
            <a:ext cx="582211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Community Board &amp; Verified Polls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714361" y="4656435"/>
            <a:ext cx="5822110" cy="396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      Crypto‑bound voting to prevent duplicate votes and a hyperlocal micro‑task board for clean‑ups and volunteer drives.     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5268516"/>
            <a:ext cx="3552042" cy="100349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98403" y="5429250"/>
            <a:ext cx="315438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GPS State Detection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98403" y="5714405"/>
            <a:ext cx="3154383" cy="396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Detects disabled location services and presents a single‑tap settings action to re‑enable GPS.</a:t>
            </a:r>
            <a:endParaRPr lang="en-US" sz="11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19777" y="5268516"/>
            <a:ext cx="3552042" cy="100349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556706" y="5429250"/>
            <a:ext cx="315438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Instant Reload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4556706" y="5714405"/>
            <a:ext cx="3154383" cy="396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Live stream subscription + lifecycle resume → data refresh under 2 seconds.</a:t>
            </a:r>
            <a:endParaRPr lang="en-US" sz="11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78079" y="5268516"/>
            <a:ext cx="3552042" cy="100349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215008" y="5429250"/>
            <a:ext cx="315438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Zero Buffering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215008" y="5714405"/>
            <a:ext cx="3154383" cy="396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Resilient spatial pipeline eliminates deadlocks and stale tiles.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64679"/>
            <a:ext cx="5273047" cy="330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0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Technology Stack</a:t>
            </a:r>
            <a:endParaRPr lang="en-US" sz="2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1199555"/>
          <a:ext cx="9143771" cy="914400"/>
        </p:xfrm>
        <a:graphic>
          <a:graphicData uri="http://schemas.openxmlformats.org/drawingml/2006/table">
            <a:tbl>
              <a:tblPr/>
              <a:tblGrid>
                <a:gridCol w="1581914"/>
                <a:gridCol w="1845566"/>
                <a:gridCol w="1845566"/>
              </a:tblGrid>
              <a:tr h="30697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Layer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Technologies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Purpose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01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Mobile Core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Flutter 3.x · Dart 3.12 · Riverpod 3.4.2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60fps native UI; reactive unidirectional state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01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Routing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GoRouter 17.4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Declarative routing; role‑based guards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010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Backend &amp; DB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Supabase · PostgreSQL 15 · PostGIS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Relational storage; spatial math; realtime websockets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01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Vision AI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NVIDIA NIM · Llama‑3.2 Vision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Zero‑shot hazard categorization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01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Maps &amp; GIS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MapLibre GL · Ola Maps API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Custom dark vector styling; geocoding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695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Hardware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Geolocator · local_auth · Sensors Plus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3063"/>
                          </a:solidFill>
                          <a:latin typeface="Instrument Sans" pitchFamily="34" charset="0"/>
                          <a:ea typeface="Instrument Sans" pitchFamily="34" charset="-122"/>
                          <a:cs typeface="Instrument Sans" pitchFamily="34" charset="-120"/>
                        </a:rPr>
                        <a:t>50Hz accelerometer, GPS, native biometrics</a:t>
                      </a:r>
                      <a:endParaRPr lang="en-US" sz="1000" dirty="0">
                        <a:latin typeface="Instrument Sans" charset="0"/>
                        <a:ea typeface="Instrument Sans" charset="0"/>
                        <a:cs typeface="Instrument Sans" charset="0"/>
                      </a:endParaRPr>
                    </a:p>
                  </a:txBody>
                  <a:tcPr marL="132313" marR="132313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263523" y="1211263"/>
            <a:ext cx="5273047" cy="330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0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Security &amp; Reliability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6263523" y="1634530"/>
            <a:ext cx="5273047" cy="359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b="1" dirty="0">
                <a:solidFill>
                  <a:srgbClr val="1E3063"/>
                </a:solidFill>
                <a:latin typeface="Instrument Sans Bold" pitchFamily="34" charset="0"/>
                <a:ea typeface="Instrument Sans Bold" pitchFamily="34" charset="-122"/>
                <a:cs typeface="Instrument Sans Bold" pitchFamily="34" charset="-120"/>
              </a:rPr>
              <a:t>Quality gate:</a:t>
            </a:r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"Zero Dart Analyzer Warnings · 63/63 Automated Tests Passing · Fully Tree‑Shaken Release Build"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4475" y="2098675"/>
            <a:ext cx="3691044" cy="209163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61475" y="4845248"/>
            <a:ext cx="297649" cy="297656"/>
          </a:xfrm>
          <a:prstGeom prst="roundRect">
            <a:avLst>
              <a:gd name="adj" fmla="val 40007"/>
            </a:avLst>
          </a:prstGeom>
          <a:solidFill>
            <a:srgbClr val="CEE6FD"/>
          </a:solidFill>
          <a:ln/>
        </p:spPr>
      </p:sp>
      <p:sp>
        <p:nvSpPr>
          <p:cNvPr id="8" name="Text 4"/>
          <p:cNvSpPr/>
          <p:nvPr/>
        </p:nvSpPr>
        <p:spPr>
          <a:xfrm>
            <a:off x="1051692" y="4890691"/>
            <a:ext cx="4986312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Hardware‑Backed Biometric Lock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051692" y="5152926"/>
            <a:ext cx="4986312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Fingerprint and face unlock with device PIN fallback and lifecycle resume guards.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6153691" y="4845248"/>
            <a:ext cx="297649" cy="297656"/>
          </a:xfrm>
          <a:prstGeom prst="roundRect">
            <a:avLst>
              <a:gd name="adj" fmla="val 40007"/>
            </a:avLst>
          </a:prstGeom>
          <a:solidFill>
            <a:srgbClr val="CEE6FD"/>
          </a:solidFill>
          <a:ln/>
        </p:spPr>
      </p:sp>
      <p:sp>
        <p:nvSpPr>
          <p:cNvPr id="11" name="Text 7"/>
          <p:cNvSpPr/>
          <p:nvPr/>
        </p:nvSpPr>
        <p:spPr>
          <a:xfrm>
            <a:off x="6543908" y="4890691"/>
            <a:ext cx="4986312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Row‑Level Security (RLS)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543908" y="5152926"/>
            <a:ext cx="4986312" cy="359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Strict PostgreSQL policies enforce least privilege per role (citizen, field worker, admin).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61475" y="5698133"/>
            <a:ext cx="297649" cy="297656"/>
          </a:xfrm>
          <a:prstGeom prst="roundRect">
            <a:avLst>
              <a:gd name="adj" fmla="val 40007"/>
            </a:avLst>
          </a:prstGeom>
          <a:solidFill>
            <a:srgbClr val="CEE6FD"/>
          </a:solidFill>
          <a:ln/>
        </p:spPr>
      </p:sp>
      <p:sp>
        <p:nvSpPr>
          <p:cNvPr id="14" name="Text 10"/>
          <p:cNvSpPr/>
          <p:nvPr/>
        </p:nvSpPr>
        <p:spPr>
          <a:xfrm>
            <a:off x="1051692" y="5743575"/>
            <a:ext cx="4986312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Atomic SECURITY DEFINER RPCs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051692" y="6005810"/>
            <a:ext cx="4986312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Server‑side transactional integrity for claim handovers and status updates.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153691" y="5698133"/>
            <a:ext cx="297649" cy="297656"/>
          </a:xfrm>
          <a:prstGeom prst="roundRect">
            <a:avLst>
              <a:gd name="adj" fmla="val 40007"/>
            </a:avLst>
          </a:prstGeom>
          <a:solidFill>
            <a:srgbClr val="CEE6FD"/>
          </a:solidFill>
          <a:ln/>
        </p:spPr>
      </p:sp>
      <p:sp>
        <p:nvSpPr>
          <p:cNvPr id="17" name="Text 13"/>
          <p:cNvSpPr/>
          <p:nvPr/>
        </p:nvSpPr>
        <p:spPr>
          <a:xfrm>
            <a:off x="6543908" y="5743575"/>
            <a:ext cx="4986312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Offline‑First Queue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543908" y="6005810"/>
            <a:ext cx="4986312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Disk‑backed cache with automatic flush and exponential backoff on reconnect.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78470"/>
            <a:ext cx="10868745" cy="330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0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Accessibility, Taste &amp; Human‑Centric Design</a:t>
            </a:r>
            <a:endParaRPr lang="en-US" sz="20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1294408"/>
            <a:ext cx="719715" cy="8996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96876" y="1294408"/>
            <a:ext cx="2710390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Tri‑lingual Experience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496876" y="1556643"/>
            <a:ext cx="2710390" cy="899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hi-IN" alt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One‑tap switching between English, हिंदी (Hindi) and മലയാളം (Malayalam). Full localization across 19 civic categories; extended support for 22 scheduled languages with native typography.</a:t>
            </a:r>
            <a:endParaRPr lang="hi-IN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952" y="1294408"/>
            <a:ext cx="719715" cy="89961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58353" y="1294408"/>
            <a:ext cx="2710390" cy="4133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WCAG AAA Dark Glassmorphic Aesthetics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158353" y="1763316"/>
            <a:ext cx="2710390" cy="719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Deep backgrounds with luminous accents ensure legibility in harsh daylight and night. Palette tuned for accessibility and brand: </a:t>
            </a:r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#84C1FA</a:t>
            </a:r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accent.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4429" y="1294408"/>
            <a:ext cx="719715" cy="89961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819830" y="1294408"/>
            <a:ext cx="2710390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Natural Motion &amp; Haptics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8819830" y="1556643"/>
            <a:ext cx="2710390" cy="539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Emil Kowalski spring dynamics: tactile haptics and physical scaling on tap for predictable, humane interactions.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661475" y="3565327"/>
            <a:ext cx="359430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Screen Readers &amp; TTS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661475" y="3864570"/>
            <a:ext cx="3594308" cy="719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Complete Semantics(...) metadata for every control, map layer and camera viewfinder. Built‑in TTS for emergency alerts and hazard updates. Fluid typography adapts to system scaling without clipping.</a:t>
            </a:r>
            <a:endParaRPr lang="en-US" sz="10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7547" y="2691606"/>
            <a:ext cx="4866161" cy="2757488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61475" y="5657453"/>
            <a:ext cx="10868745" cy="421977"/>
          </a:xfrm>
          <a:prstGeom prst="roundRect">
            <a:avLst>
              <a:gd name="adj" fmla="val 28220"/>
            </a:avLst>
          </a:prstGeom>
          <a:solidFill>
            <a:srgbClr val="CEE6FD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30" y="5794276"/>
            <a:ext cx="165294" cy="132259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91280" y="5783064"/>
            <a:ext cx="10916270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Design creed: "Accessible to the grandmother in rural Kerala, the commuter in Delhi, and the municipal worker in Bengaluru."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08212"/>
            <a:ext cx="5238421" cy="401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5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Real‑World Impact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61475" y="1963440"/>
            <a:ext cx="2550949" cy="2148483"/>
          </a:xfrm>
          <a:prstGeom prst="roundRect">
            <a:avLst>
              <a:gd name="adj" fmla="val 6730"/>
            </a:avLst>
          </a:prstGeom>
          <a:solidFill>
            <a:srgbClr val="CEE6FD"/>
          </a:solidFill>
          <a:ln/>
        </p:spPr>
      </p:sp>
      <p:sp>
        <p:nvSpPr>
          <p:cNvPr id="4" name="Text 2"/>
          <p:cNvSpPr/>
          <p:nvPr/>
        </p:nvSpPr>
        <p:spPr>
          <a:xfrm>
            <a:off x="822106" y="2124075"/>
            <a:ext cx="2229687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Accident Prevention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106" y="2511623"/>
            <a:ext cx="2229687" cy="118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Passive mapping of sinkholes and potholes before crashes occur — early detection from aggregated sensor telemetry and images.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348946" y="1963440"/>
            <a:ext cx="2550949" cy="2148483"/>
          </a:xfrm>
          <a:prstGeom prst="roundRect">
            <a:avLst>
              <a:gd name="adj" fmla="val 6730"/>
            </a:avLst>
          </a:prstGeom>
          <a:solidFill>
            <a:srgbClr val="CEE6FD"/>
          </a:solidFill>
          <a:ln/>
        </p:spPr>
      </p:sp>
      <p:sp>
        <p:nvSpPr>
          <p:cNvPr id="7" name="Text 5"/>
          <p:cNvSpPr/>
          <p:nvPr/>
        </p:nvSpPr>
        <p:spPr>
          <a:xfrm>
            <a:off x="3509577" y="2124075"/>
            <a:ext cx="2229687" cy="5020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Immutable After‑Repair Proof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3509577" y="2762647"/>
            <a:ext cx="2229687" cy="118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100% of completed tickets include tamper‑resistant after‑repair photos and 3 citizen confirmations to prevent ghost closures.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61475" y="4248448"/>
            <a:ext cx="5238421" cy="1184275"/>
          </a:xfrm>
          <a:prstGeom prst="roundRect">
            <a:avLst>
              <a:gd name="adj" fmla="val 12210"/>
            </a:avLst>
          </a:prstGeom>
          <a:solidFill>
            <a:srgbClr val="CEE6FD"/>
          </a:solidFill>
          <a:ln/>
        </p:spPr>
      </p:sp>
      <p:sp>
        <p:nvSpPr>
          <p:cNvPr id="10" name="Text 8"/>
          <p:cNvSpPr/>
          <p:nvPr/>
        </p:nvSpPr>
        <p:spPr>
          <a:xfrm>
            <a:off x="822106" y="4409083"/>
            <a:ext cx="491715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Faster Municipal Response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22106" y="4796631"/>
            <a:ext cx="4917158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Complaint filing time reduced from 5 minutes to essentially 0 seconds through passive capture and automated ingestion.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298149" y="752971"/>
            <a:ext cx="5238421" cy="401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5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The Road Ahead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6298149" y="1291134"/>
            <a:ext cx="5238421" cy="15218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54000" indent="-254000">
              <a:lnSpc>
                <a:spcPct val="123000"/>
              </a:lnSpc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Dashcam &amp; Fleet Telemetry — integrate SensorWatch into public buses and delivery fleets for scale.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Font typeface="+mj-lt"/>
              <a:buAutoNum type="arabicPeriod" startAt="2"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Municipal ERP Integration — direct API connectors to city bodies (BBMP, BMC, Smart City Mission).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Font typeface="+mj-lt"/>
              <a:buAutoNum type="arabicPeriod" startAt="3"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Predictive Maintenance — AI forecasting to schedule repairs before potholes form.</a:t>
            </a:r>
            <a:endParaRPr lang="en-US" sz="12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1046" y="2966541"/>
            <a:ext cx="4452628" cy="2523133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298149" y="5643265"/>
            <a:ext cx="5238421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1E3063"/>
                </a:solidFill>
                <a:latin typeface="Instrument Sans Bold" pitchFamily="34" charset="0"/>
                <a:ea typeface="Instrument Sans Bold" pitchFamily="34" charset="-122"/>
                <a:cs typeface="Instrument Sans Bold" pitchFamily="34" charset="-120"/>
              </a:rPr>
              <a:t>Deployment: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Signed APK v1.0.65 available now; open codebase with documentation and schema migrations for rapid municipal pilots.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879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13180" y="99900"/>
                </a:lnTo>
                <a:lnTo>
                  <a:pt x="8110" y="91990"/>
                </a:lnTo>
                <a:lnTo>
                  <a:pt x="4200" y="84670"/>
                </a:lnTo>
                <a:lnTo>
                  <a:pt x="2640" y="81150"/>
                </a:lnTo>
                <a:lnTo>
                  <a:pt x="1270" y="77440"/>
                </a:lnTo>
                <a:lnTo>
                  <a:pt x="490" y="74610"/>
                </a:lnTo>
                <a:lnTo>
                  <a:pt x="0" y="71480"/>
                </a:lnTo>
                <a:lnTo>
                  <a:pt x="200" y="67290"/>
                </a:lnTo>
                <a:lnTo>
                  <a:pt x="1270" y="63280"/>
                </a:lnTo>
                <a:lnTo>
                  <a:pt x="2830" y="59860"/>
                </a:lnTo>
                <a:lnTo>
                  <a:pt x="5080" y="56050"/>
                </a:lnTo>
                <a:lnTo>
                  <a:pt x="6840" y="52540"/>
                </a:lnTo>
                <a:lnTo>
                  <a:pt x="7910" y="49610"/>
                </a:lnTo>
                <a:lnTo>
                  <a:pt x="8690" y="45700"/>
                </a:lnTo>
                <a:lnTo>
                  <a:pt x="8790" y="40140"/>
                </a:lnTo>
                <a:lnTo>
                  <a:pt x="8590" y="36520"/>
                </a:lnTo>
                <a:lnTo>
                  <a:pt x="8110" y="31930"/>
                </a:lnTo>
                <a:lnTo>
                  <a:pt x="6540" y="21970"/>
                </a:lnTo>
                <a:lnTo>
                  <a:pt x="6150" y="14750"/>
                </a:lnTo>
                <a:lnTo>
                  <a:pt x="6450" y="10350"/>
                </a:lnTo>
                <a:lnTo>
                  <a:pt x="6930" y="7030"/>
                </a:lnTo>
                <a:lnTo>
                  <a:pt x="7910" y="264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557113"/>
            <a:ext cx="6296860" cy="372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23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Conclusion &amp; Next Steps</a:t>
            </a:r>
            <a:endParaRPr lang="en-US" sz="2300" dirty="0"/>
          </a:p>
        </p:txBody>
      </p:sp>
      <p:sp>
        <p:nvSpPr>
          <p:cNvPr id="4" name="Text 1"/>
          <p:cNvSpPr/>
          <p:nvPr/>
        </p:nvSpPr>
        <p:spPr>
          <a:xfrm>
            <a:off x="661475" y="1105098"/>
            <a:ext cx="6296860" cy="638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Nivara converts passive commuters into active city guardians by combining secure telemetry, vision AI, and tamper‑resistant proofing. Ready for municipal pilots and fleet integrations — production APK and source available. </a:t>
            </a:r>
            <a:endParaRPr lang="en-US" sz="11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875433"/>
            <a:ext cx="372061" cy="37207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61475" y="2393950"/>
            <a:ext cx="6296860" cy="232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GitHub</a:t>
            </a:r>
            <a:endParaRPr lang="en-US" sz="1450" dirty="0"/>
          </a:p>
        </p:txBody>
      </p:sp>
      <p:sp>
        <p:nvSpPr>
          <p:cNvPr id="7" name="Text 3"/>
          <p:cNvSpPr/>
          <p:nvPr/>
        </p:nvSpPr>
        <p:spPr>
          <a:xfrm>
            <a:off x="661475" y="2696666"/>
            <a:ext cx="6296860" cy="212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github.com/adithyen/Nivara-AppSprint-2026</a:t>
            </a:r>
            <a:endParaRPr lang="en-US" sz="11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3143845"/>
            <a:ext cx="372061" cy="37207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61475" y="3662363"/>
            <a:ext cx="6296860" cy="232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APK</a:t>
            </a:r>
            <a:endParaRPr lang="en-US" sz="1450" dirty="0"/>
          </a:p>
        </p:txBody>
      </p:sp>
      <p:sp>
        <p:nvSpPr>
          <p:cNvPr id="10" name="Text 5"/>
          <p:cNvSpPr/>
          <p:nvPr/>
        </p:nvSpPr>
        <p:spPr>
          <a:xfrm>
            <a:off x="661475" y="3965079"/>
            <a:ext cx="6296860" cy="212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github.com/adithyen/Nivara-AppSprint-2026/releases/tag/v1.0.65</a:t>
            </a:r>
            <a:endParaRPr lang="en-US" sz="11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1475" y="4412258"/>
            <a:ext cx="372061" cy="37207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61475" y="4930775"/>
            <a:ext cx="6296860" cy="232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Contact</a:t>
            </a:r>
            <a:endParaRPr lang="en-US" sz="1450" dirty="0"/>
          </a:p>
        </p:txBody>
      </p:sp>
      <p:sp>
        <p:nvSpPr>
          <p:cNvPr id="13" name="Text 7"/>
          <p:cNvSpPr/>
          <p:nvPr/>
        </p:nvSpPr>
        <p:spPr>
          <a:xfrm>
            <a:off x="661475" y="5233491"/>
            <a:ext cx="6296860" cy="212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Adithyan H · Team Nivara · AppSprint 2026</a:t>
            </a:r>
            <a:endParaRPr lang="en-US" sz="1150" dirty="0"/>
          </a:p>
        </p:txBody>
      </p:sp>
      <p:sp>
        <p:nvSpPr>
          <p:cNvPr id="14" name="Shape 8"/>
          <p:cNvSpPr/>
          <p:nvPr/>
        </p:nvSpPr>
        <p:spPr>
          <a:xfrm>
            <a:off x="661475" y="5578177"/>
            <a:ext cx="6296860" cy="722709"/>
          </a:xfrm>
          <a:prstGeom prst="roundRect">
            <a:avLst>
              <a:gd name="adj" fmla="val 18537"/>
            </a:avLst>
          </a:prstGeom>
          <a:solidFill>
            <a:srgbClr val="CEE6FD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299" y="5748338"/>
            <a:ext cx="186031" cy="14882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45154" y="5732562"/>
            <a:ext cx="5664356" cy="425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Closing thought: "Nivara transforms passive commuters into active city guardians. Your City. Your Proof. Your Voice."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2026-09-14T09:57:07Z</dcterms:created>
  <dcterms:modified xsi:type="dcterms:W3CDTF">2026-09-14T09:57:07Z</dcterms:modified>
</cp:coreProperties>
</file>