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Instrument Sans Bold" panose="020B0604020202020204" charset="0"/>
      <p:regular r:id="rId9"/>
    </p:embeddedFont>
    <p:embeddedFont>
      <p:font typeface="Instrument Sans Medium" panose="020B0604020202020204" charset="0"/>
      <p:regular r:id="rId10"/>
    </p:embeddedFont>
    <p:embeddedFont>
      <p:font typeface="Instrument Sans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11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7090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hi-IN" alt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NIVARA (നിവാര / निवारा)</a:t>
            </a:r>
            <a:endParaRPr lang="hi-IN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091704"/>
            <a:ext cx="629686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Autonomous Civic Intelligence &amp; Closed‑Loop Municipal Accountability Network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661475" y="2407146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Transforming everyday smartphones into passive, autonomous civic watchdogs that collect tamper‑resistant photographic proof and contextual telemetry. </a:t>
            </a: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Core philosophy: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"Your City. Your Proof. Your Voice." 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3196233"/>
            <a:ext cx="3087908" cy="1046559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812680" y="3347442"/>
            <a:ext cx="2785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Team </a:t>
            </a:r>
            <a:r>
              <a:rPr lang="en-US" sz="200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Nivara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2680" y="3796171"/>
            <a:ext cx="278549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by </a:t>
            </a:r>
            <a:r>
              <a:rPr lang="en-US" sz="14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Adithyan 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70327" y="3196233"/>
            <a:ext cx="3088007" cy="1046559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4021533" y="3347442"/>
            <a:ext cx="278559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Track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21533" y="3656211"/>
            <a:ext cx="278559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AppSprint 2026 · CivicTech Track · Production Release </a:t>
            </a:r>
            <a:r>
              <a:rPr lang="en-US" sz="11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v1.0.65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4363740"/>
            <a:ext cx="6296860" cy="1046559"/>
          </a:xfrm>
          <a:prstGeom prst="roundRect">
            <a:avLst>
              <a:gd name="adj" fmla="val 13004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812680" y="4514949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Tech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2680" y="4823718"/>
            <a:ext cx="599444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Flutter 3.x	 · </a:t>
            </a:r>
            <a:r>
              <a:rPr lang="en-US" sz="11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Supabase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PostgreSQL 15 + </a:t>
            </a:r>
            <a:r>
              <a:rPr lang="en-US" sz="11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PostGIS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· NVIDIA NIM Llama‑3.2 Vision AI 	· Ola Maps Vector Engine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1475" y="5546328"/>
            <a:ext cx="6296860" cy="740767"/>
          </a:xfrm>
          <a:prstGeom prst="roundRect">
            <a:avLst>
              <a:gd name="adj" fmla="val 18372"/>
            </a:avLst>
          </a:prstGeom>
          <a:solidFill>
            <a:srgbClr val="CEE6FD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5718770"/>
            <a:ext cx="189007" cy="15120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52893" y="5705078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Bridging the broken trust loop between citizens and municipal authorities through passive sensor telemetry and tamper‑proof photographic proof.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9258"/>
            <a:ext cx="47006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Neighborhood Pulse — Live Metrics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2459930"/>
            <a:ext cx="4700668" cy="128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Real‑time counts of hazards, repairs-in-progress and active crews. Sub‑2s spatial refresh via Geolocator.getServiceStatusStream() plus app lifecycle hooks — automatic reload on resume with no pull‑to‑refresh.     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highlight>
                  <a:srgbClr val="84C1FA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highlight: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"Zero Buffering Deadlocks · Sub‑2s Spatial Response · Hyperlocal Citizen Collaboration"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112" y="705445"/>
            <a:ext cx="4366508" cy="2474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4361" y="3299420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Ola Maps Dark Vector Engine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14361" y="3627140"/>
            <a:ext cx="582211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High‑performance vector tiles, spatial clustering, custom category pins. Proximity discovery for hospitals, police, fire, public toilets, clean water, and transit. One‑tap SOS beacon with turn‑by‑turn routing to nearest help.     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4361" y="4328716"/>
            <a:ext cx="58221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Community Board &amp; Verified Polls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714361" y="4656435"/>
            <a:ext cx="582211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Crypto‑bound voting to prevent duplicate votes and a hyperlocal micro‑task board for clean‑ups and volunteer drives.     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68516"/>
            <a:ext cx="3552042" cy="10034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8403" y="5429250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GPS State Detection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98403" y="5714405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Detects disabled location services and presents a single‑tap settings action to re‑enable GPS.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9777" y="5268516"/>
            <a:ext cx="3552042" cy="10034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56706" y="5429250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Instant Reload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56706" y="5714405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stream subscription + lifecycle resume → data refresh under 2 seconds.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8079" y="5268516"/>
            <a:ext cx="3552042" cy="10034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15008" y="5429250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 Buffering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215008" y="5714405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Resilient spatial pipeline eliminates deadlocks and stale tiles.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679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2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99555"/>
          <a:ext cx="5273046" cy="3424547"/>
        </p:xfrm>
        <a:graphic>
          <a:graphicData uri="http://schemas.openxmlformats.org/drawingml/2006/table">
            <a:tbl>
              <a:tblPr/>
              <a:tblGrid>
                <a:gridCol w="1581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Layer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Technologies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Purpose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Mobile Core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Flutter 3.x · Dart 3.12 · Riverpod 3.4.2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60fps native UI; reactive unidirectional state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Routing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GoRouter 17.4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Declarative routing; role‑based guards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1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Backend &amp; DB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Supabase · PostgreSQL 15 · PostGIS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Relational storage; spatial math; realtime websockets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Vision AI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NVIDIA NIM · Llama‑3.2 Vision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Zero‑shot hazard categorization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Maps &amp; GIS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MapLibre GL · Ola Maps API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Custom dark vector styling; geocoding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Hardware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Geolocator · local_auth · Sensors Plus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3063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50Hz accelerometer, GPS, native biometrics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6263523" y="1211263"/>
            <a:ext cx="5273047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&amp; Reliability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263523" y="1634530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Quality gate: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"Zero Dart Analyzer Warnings · 63/63 Automated Tests Passing · Fully Tree‑Shaken Release Build"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475" y="2098675"/>
            <a:ext cx="3691044" cy="209163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1475" y="4845248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8" name="Text 4"/>
          <p:cNvSpPr/>
          <p:nvPr/>
        </p:nvSpPr>
        <p:spPr>
          <a:xfrm>
            <a:off x="1051692" y="4890691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Hardware‑Backed Biometric Lock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1692" y="5152926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Fingerprint and face unlock with device PIN fallback and lifecycle resume guards.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53691" y="4845248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11" name="Text 7"/>
          <p:cNvSpPr/>
          <p:nvPr/>
        </p:nvSpPr>
        <p:spPr>
          <a:xfrm>
            <a:off x="6543908" y="4890691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Row‑Level Security (RLS)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43908" y="5152926"/>
            <a:ext cx="498631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Strict PostgreSQL policies enforce least privilege per role (citizen, field worker, admin).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61475" y="5698133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14" name="Text 10"/>
          <p:cNvSpPr/>
          <p:nvPr/>
        </p:nvSpPr>
        <p:spPr>
          <a:xfrm>
            <a:off x="1051692" y="5743575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Atomic SECURITY DEFINER RPCs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51692" y="6005810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Server‑side transactional integrity for claim handovers and status updates.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53691" y="5698133"/>
            <a:ext cx="297649" cy="297656"/>
          </a:xfrm>
          <a:prstGeom prst="roundRect">
            <a:avLst>
              <a:gd name="adj" fmla="val 40007"/>
            </a:avLst>
          </a:prstGeom>
          <a:solidFill>
            <a:srgbClr val="CEE6FD"/>
          </a:solidFill>
          <a:ln/>
        </p:spPr>
      </p:sp>
      <p:sp>
        <p:nvSpPr>
          <p:cNvPr id="17" name="Text 13"/>
          <p:cNvSpPr/>
          <p:nvPr/>
        </p:nvSpPr>
        <p:spPr>
          <a:xfrm>
            <a:off x="6543908" y="5743575"/>
            <a:ext cx="498631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Offline‑First Queue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43908" y="6005810"/>
            <a:ext cx="498631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Disk‑backed cache with automatic flush and exponential backoff on reconnect.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8470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Accessibility, Taste &amp; Human‑Centric Design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94408"/>
            <a:ext cx="719715" cy="899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6876" y="1294408"/>
            <a:ext cx="27103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Tri‑lingual Experience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96876" y="1556643"/>
            <a:ext cx="2710390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hi-IN" alt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One‑tap switching between English, हिंदी (Hindi) and മലയാളം (Malayalam). Full localization across 19 civic categories; extended support for 22 scheduled languages with native typography.</a:t>
            </a:r>
            <a:endParaRPr lang="hi-IN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952" y="1294408"/>
            <a:ext cx="719715" cy="899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58353" y="1294408"/>
            <a:ext cx="2710390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WCAG AAA Dark Glassmorphic Aesthetics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158353" y="1763316"/>
            <a:ext cx="2710390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 backgrounds with luminous accents ensure legibility in harsh daylight and night. Palette tuned for accessibility and brand: </a:t>
            </a: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#84C1FA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accent.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4429" y="1294408"/>
            <a:ext cx="719715" cy="8996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19830" y="1294408"/>
            <a:ext cx="27103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Natural Motion &amp; Haptics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819830" y="1556643"/>
            <a:ext cx="2710390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Emil Kowalski spring dynamics: tactile haptics and physical scaling on tap for predictable, humane interactions.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61475" y="3565327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Screen Readers &amp; TTS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3864570"/>
            <a:ext cx="3594308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 Semantics(...) metadata for every control, map layer and camera viewfinder. Built‑in TTS for emergency alerts and hazard updates. Fluid typography adapts to system scaling without clipping.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7547" y="2691606"/>
            <a:ext cx="4866161" cy="275748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61475" y="5657453"/>
            <a:ext cx="10868745" cy="421977"/>
          </a:xfrm>
          <a:prstGeom prst="roundRect">
            <a:avLst>
              <a:gd name="adj" fmla="val 28220"/>
            </a:avLst>
          </a:prstGeom>
          <a:solidFill>
            <a:srgbClr val="CEE6FD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30" y="5794276"/>
            <a:ext cx="165294" cy="1322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1280" y="5783064"/>
            <a:ext cx="1091627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 creed: "Accessible to the grandmother in rural Kerala, the commuter in Delhi, and the municipal worker in Bengaluru."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8212"/>
            <a:ext cx="5238421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Real‑World Impact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61475" y="1963440"/>
            <a:ext cx="2550949" cy="2148483"/>
          </a:xfrm>
          <a:prstGeom prst="roundRect">
            <a:avLst>
              <a:gd name="adj" fmla="val 6730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822106" y="2124075"/>
            <a:ext cx="22296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Accident Prevention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2106" y="2511623"/>
            <a:ext cx="222968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Passive mapping of sinkholes and potholes before crashes occur — early detection from aggregated sensor telemetry and images.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48946" y="1963440"/>
            <a:ext cx="2550949" cy="2148483"/>
          </a:xfrm>
          <a:prstGeom prst="roundRect">
            <a:avLst>
              <a:gd name="adj" fmla="val 6730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3509577" y="2124075"/>
            <a:ext cx="222968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Immutable After‑Repair Proof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509577" y="2762647"/>
            <a:ext cx="222968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100% of completed tickets include tamper‑resistant after‑repair photos and 3 citizen confirmations to prevent ghost closures.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4248448"/>
            <a:ext cx="5238421" cy="1184275"/>
          </a:xfrm>
          <a:prstGeom prst="roundRect">
            <a:avLst>
              <a:gd name="adj" fmla="val 12210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822106" y="4409083"/>
            <a:ext cx="491715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Faster Municipal Response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106" y="4796631"/>
            <a:ext cx="491715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Complaint filing time reduced from 5 minutes to essentially 0 seconds through passive capture and automated ingestion.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8149" y="752971"/>
            <a:ext cx="5238421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Road Ahead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298149" y="1291134"/>
            <a:ext cx="5238421" cy="152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Dashcam &amp; Fleet Telemetry — integrate SensorWatch into public buses and delivery fleets for scale.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Municipal ERP Integration — direct API connectors to city bodies (BBMP, BMC, Smart City Mission).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Predictive Maintenance — AI forecasting to schedule repairs before potholes form.</a:t>
            </a:r>
            <a:endParaRPr lang="en-US" sz="1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46" y="2966541"/>
            <a:ext cx="4452628" cy="252313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98149" y="5643265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Deployment: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Signed APK v1.0.65 available now; open codebase with documentation and schema migrations for rapid municipal pilots.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57113"/>
            <a:ext cx="6296860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 &amp; Next Steps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61475" y="1105098"/>
            <a:ext cx="6296860" cy="638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Nivara converts passive commuters into active city guardians by combining secure telemetry, vision AI, and tamper‑resistant proofing. Ready for municipal pilots and fleet integrations — production APK and source available. 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75433"/>
            <a:ext cx="372061" cy="372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393950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GitHub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61475" y="2696666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github.com/adithyen/Nivara-AppSprint-2026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43845"/>
            <a:ext cx="372061" cy="372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662363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APK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61475" y="3965079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github.com/adithyen/Nivara-AppSprint-2026/releases/tag/v1.0.65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12258"/>
            <a:ext cx="372061" cy="372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930775"/>
            <a:ext cx="629686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Contact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61475" y="5233491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Adithyan H · Team Nivara · AppSprint 2026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661475" y="5578177"/>
            <a:ext cx="6296860" cy="722709"/>
          </a:xfrm>
          <a:prstGeom prst="roundRect">
            <a:avLst>
              <a:gd name="adj" fmla="val 18537"/>
            </a:avLst>
          </a:prstGeom>
          <a:solidFill>
            <a:srgbClr val="CEE6FD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99" y="5748338"/>
            <a:ext cx="186031" cy="1488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5154" y="5732562"/>
            <a:ext cx="5664356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Closing thought: "Nivara transforms passive commuters into active city guardians. Your City. Your Proof. Your Voice."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902</Words>
  <Application>Microsoft Office PowerPoint</Application>
  <PresentationFormat>Widescreen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Instrument Sans</vt:lpstr>
      <vt:lpstr>Arial</vt:lpstr>
      <vt:lpstr>Instrument Sans SemiBold</vt:lpstr>
      <vt:lpstr>Instrument Sans Medium</vt:lpstr>
      <vt:lpstr>Instrument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ADITHYAN H</cp:lastModifiedBy>
  <cp:revision>2</cp:revision>
  <dcterms:created xsi:type="dcterms:W3CDTF">2026-09-14T09:57:07Z</dcterms:created>
  <dcterms:modified xsi:type="dcterms:W3CDTF">2026-09-14T19:55:49Z</dcterms:modified>
</cp:coreProperties>
</file>