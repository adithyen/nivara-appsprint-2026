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Bold" panose="020B0604020202020204" charset="0"/>
      <p:regular r:id="rId17"/>
    </p:embeddedFont>
    <p:embeddedFont>
      <p:font typeface="Instrument Sans Medium" panose="020B0604020202020204" charset="0"/>
      <p:regular r:id="rId18"/>
    </p:embeddedFont>
    <p:embeddedFont>
      <p:font typeface="Instrument Sans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32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4" name="Text 1"/>
          <p:cNvSpPr/>
          <p:nvPr/>
        </p:nvSpPr>
        <p:spPr>
          <a:xfrm>
            <a:off x="696200" y="1925543"/>
            <a:ext cx="687364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Autonomous Civic Intelligence &amp; Closed‑Loop Municipal Accountability Network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1475" y="2800689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Transforming everyday smartphones into passive, autonomous civic watchdogs that collect tamper‑resistant photographic proof and contextual telemetry. </a:t>
            </a:r>
            <a:r>
              <a:rPr lang="en-US" sz="12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Core philosophy:</a:t>
            </a: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"Your City. Your Proof. Your Voice." 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3589776"/>
            <a:ext cx="3087908" cy="1046559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812680" y="3740985"/>
            <a:ext cx="2785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Team </a:t>
            </a:r>
            <a:r>
              <a:rPr lang="en-US" sz="20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Nivara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2680" y="4189714"/>
            <a:ext cx="278549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by </a:t>
            </a: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Adithyan 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70327" y="3589776"/>
            <a:ext cx="3088007" cy="1046559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4021533" y="3740985"/>
            <a:ext cx="278559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Track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21533" y="4049754"/>
            <a:ext cx="278559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AppSprint 2026 · CivicTech Track · Production Release </a:t>
            </a: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v1.0.65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4757283"/>
            <a:ext cx="6296860" cy="1046559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812680" y="4908492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Tech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2680" y="5217261"/>
            <a:ext cx="599444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3.x	 · </a:t>
            </a:r>
            <a:r>
              <a:rPr lang="en-US" sz="11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Supabase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PostgreSQL 15 + </a:t>
            </a:r>
            <a:r>
              <a:rPr lang="en-US" sz="11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PostGIS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· NVIDIA NIM Llama‑3.2 Vision AI 	· Ola Maps Vector Engine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5939871"/>
            <a:ext cx="6296860" cy="740767"/>
          </a:xfrm>
          <a:prstGeom prst="roundRect">
            <a:avLst>
              <a:gd name="adj" fmla="val 18372"/>
            </a:avLst>
          </a:prstGeom>
          <a:solidFill>
            <a:srgbClr val="CEE6F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6112313"/>
            <a:ext cx="189007" cy="15120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52893" y="6098621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Bridging the broken trust loop between citizens and municipal authorities through passive sensor telemetry and tamper‑proof photographic proof.</a:t>
            </a:r>
            <a:endParaRPr lang="en-US" sz="115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E08A3603-85F3-42F7-F166-E45155FEF27C}"/>
              </a:ext>
            </a:extLst>
          </p:cNvPr>
          <p:cNvSpPr/>
          <p:nvPr/>
        </p:nvSpPr>
        <p:spPr>
          <a:xfrm>
            <a:off x="684625" y="768539"/>
            <a:ext cx="2911700" cy="287139"/>
          </a:xfrm>
          <a:prstGeom prst="roundRect">
            <a:avLst>
              <a:gd name="adj" fmla="val 47396"/>
            </a:avLst>
          </a:prstGeom>
          <a:solidFill>
            <a:srgbClr val="CEE6FD"/>
          </a:solidFill>
          <a:ln/>
        </p:spPr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4F95B666-3194-FA06-0F79-0DE3EB63E054}"/>
              </a:ext>
            </a:extLst>
          </p:cNvPr>
          <p:cNvSpPr/>
          <p:nvPr/>
        </p:nvSpPr>
        <p:spPr>
          <a:xfrm>
            <a:off x="798029" y="825193"/>
            <a:ext cx="329447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APPSPRINT 2026 · CIVICTECH TRACK</a:t>
            </a:r>
            <a:endParaRPr lang="en-US" sz="115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570C49D-BA31-9CE5-133A-142B3F69CD4A}"/>
              </a:ext>
            </a:extLst>
          </p:cNvPr>
          <p:cNvSpPr/>
          <p:nvPr/>
        </p:nvSpPr>
        <p:spPr>
          <a:xfrm>
            <a:off x="3690779" y="768539"/>
            <a:ext cx="1760990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D80E3017-933A-239B-8F01-2040A732B54D}"/>
              </a:ext>
            </a:extLst>
          </p:cNvPr>
          <p:cNvSpPr/>
          <p:nvPr/>
        </p:nvSpPr>
        <p:spPr>
          <a:xfrm>
            <a:off x="3804183" y="825193"/>
            <a:ext cx="21437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PRODUCTION V1.0.65</a:t>
            </a:r>
            <a:endParaRPr lang="en-US" sz="115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D337549-F495-852C-47D3-2E14BBAC210B}"/>
              </a:ext>
            </a:extLst>
          </p:cNvPr>
          <p:cNvSpPr/>
          <p:nvPr/>
        </p:nvSpPr>
        <p:spPr>
          <a:xfrm>
            <a:off x="684625" y="11312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hi-IN" alt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NIVARA </a:t>
            </a:r>
            <a:r>
              <a:rPr lang="hi-IN" altLang="en-US" sz="370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നിവാര / निवार</a:t>
            </a:r>
            <a:endParaRPr lang="hi-IN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Broken Urban Feedback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43152" y="1071920"/>
            <a:ext cx="108687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Traditional Municipal Grievance Portals Fail Citizens Daily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867" y="1650285"/>
            <a:ext cx="5949500" cy="337135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8053" y="1609765"/>
            <a:ext cx="3618417" cy="818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98627" y="1739543"/>
            <a:ext cx="33080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Road Fatalities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098627" y="1994932"/>
            <a:ext cx="3308069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 </a:t>
            </a: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3,500 lives lost annually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India due to road potholes alone.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8053" y="2713811"/>
            <a:ext cx="3618417" cy="8181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8627" y="2843590"/>
            <a:ext cx="33080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Bureaucratic Black Hole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098627" y="3098979"/>
            <a:ext cx="3308069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78% of municipal complaints</a:t>
            </a: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are unresolved or prematurely marked "closed" without physical proof.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8053" y="3848338"/>
            <a:ext cx="3618417" cy="8181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8627" y="3978116"/>
            <a:ext cx="33080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Effort Burden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8098627" y="4233505"/>
            <a:ext cx="3308069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Complex reporting flows cause citizen apathy — most hazards go unreported.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813" y="5277505"/>
            <a:ext cx="3618417" cy="8181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90387" y="5407283"/>
            <a:ext cx="33080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Language &amp; Tech Barrier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90387" y="5662672"/>
            <a:ext cx="3308069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English-heavy forms digitally exclude millions of regional language speakers.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2213" y="5253792"/>
            <a:ext cx="3618417" cy="81815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552787" y="5383570"/>
            <a:ext cx="33080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Identity Fraud Crisis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4552787" y="5638959"/>
            <a:ext cx="3308069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Lost credentials (Aadhaar, PAN, licenses) face weeks of delay and fraud risk.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8141573" y="5432147"/>
            <a:ext cx="3618417" cy="492323"/>
          </a:xfrm>
          <a:prstGeom prst="roundRect">
            <a:avLst>
              <a:gd name="adj" fmla="val 21407"/>
            </a:avLst>
          </a:prstGeom>
          <a:solidFill>
            <a:srgbClr val="CEE6FD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649" y="5545753"/>
            <a:ext cx="146344" cy="11707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522068" y="5526703"/>
            <a:ext cx="3120848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3,500+ Annual Pothole Fatalities · 78% Unverified Closures · Zero Tamper-Proof 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69119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Introducing Nivara: 3 Pillars of Civic Intelligence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497608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 Frictionless, Verifiable, and Closed-Loop Civic Network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33360" y="1878509"/>
            <a:ext cx="3095250" cy="2290663"/>
          </a:xfrm>
          <a:prstGeom prst="roundRect">
            <a:avLst>
              <a:gd name="adj" fmla="val 5570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5375041" y="2020193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017" y="2137073"/>
            <a:ext cx="191289" cy="1912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5041" y="2551708"/>
            <a:ext cx="281188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Pillar 1: SensorWatch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75041" y="2836863"/>
            <a:ext cx="281188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Runs silently in the background. High-frequency 50Hz accelerometer monitors road shocks </a:t>
            </a: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(&gt; 2.5g)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automatically sealing an immutable </a:t>
            </a: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SHA-256 cryptographic evidence package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 GPS, speed, and waveform.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434871" y="1878509"/>
            <a:ext cx="3095349" cy="2290663"/>
          </a:xfrm>
          <a:prstGeom prst="roundRect">
            <a:avLst>
              <a:gd name="adj" fmla="val 5570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8576552" y="2020193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3528" y="2137073"/>
            <a:ext cx="191289" cy="1912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6552" y="2551708"/>
            <a:ext cx="28119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Pillar 2: Multilingual Voice AI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576552" y="2836863"/>
            <a:ext cx="281198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spoken reporting in </a:t>
            </a: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Malayalam, Hindi, and English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Continuous listening with live editable transcripts. Auto-extracts hazard categories, severity ratings, and landmarks.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33360" y="4275435"/>
            <a:ext cx="6296860" cy="1496913"/>
          </a:xfrm>
          <a:prstGeom prst="roundRect">
            <a:avLst>
              <a:gd name="adj" fmla="val 8523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5375041" y="4417120"/>
            <a:ext cx="425241" cy="425252"/>
          </a:xfrm>
          <a:prstGeom prst="ellipse">
            <a:avLst/>
          </a:prstGeom>
          <a:solidFill>
            <a:srgbClr val="84C1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017" y="4533999"/>
            <a:ext cx="191289" cy="1912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75041" y="4948634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Pillar 3: Closed-Loop Governance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375041" y="5233789"/>
            <a:ext cx="60134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dispatch to certified municipal field crews by ward. Mandatory after-repair photographic proof required. </a:t>
            </a: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 independent citizen votes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needed before final case closure.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233360" y="5891907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"Zero Friction for the Citizen · Tamper-Proof Truth for the Municipality · Certified Proof for the Community"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444312"/>
            <a:ext cx="10868745" cy="275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Objectives &amp; Operational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25635" y="991395"/>
            <a:ext cx="10868745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Measurable Goals Across Citizen, Municipal, and Community Tiers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31" y="1460659"/>
            <a:ext cx="5397205" cy="5397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84150" y="1761460"/>
            <a:ext cx="6116319" cy="1065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Nivara's five objectives span the full civic lifecycle — from passive detection to community-certified resolution — serving everyday commuters, pedestrians, municipal admins, field crews, and local communities.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4013" y="3510311"/>
            <a:ext cx="287355" cy="2873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2808" y="3507632"/>
            <a:ext cx="437723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Zero-Friction Reporting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942808" y="3797673"/>
            <a:ext cx="437723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 min → 90 sec (passive) or under 15 sec (voice)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8914" y="4994672"/>
            <a:ext cx="132454" cy="1324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2808" y="4991993"/>
            <a:ext cx="437723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Sensor-Backed Evidence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942808" y="5154712"/>
            <a:ext cx="437723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Hardware-fused accelerometer + SHA-256 crypto packages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8914" y="5344716"/>
            <a:ext cx="132454" cy="1324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2808" y="5342037"/>
            <a:ext cx="437723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Tri-Lingual Inclusivity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942808" y="5504755"/>
            <a:ext cx="437723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Malayalam, Hindi, English with WCAG AAA accessibility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8914" y="5694759"/>
            <a:ext cx="132454" cy="1324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2808" y="5692080"/>
            <a:ext cx="437723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Closed-Loop Accountability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6942808" y="5854799"/>
            <a:ext cx="437723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Field photo proof + 3-citizen confirmation gate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8914" y="6044803"/>
            <a:ext cx="132454" cy="1324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42808" y="6042124"/>
            <a:ext cx="4377233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Secure Lost &amp; Found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6942808" y="6204843"/>
            <a:ext cx="437723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 km spatial window, dynamic QR + 6-digit PIN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83DD70-5FA7-4A8F-F75A-9E675B7B813D}"/>
              </a:ext>
            </a:extLst>
          </p:cNvPr>
          <p:cNvSpPr txBox="1"/>
          <p:nvPr/>
        </p:nvSpPr>
        <p:spPr>
          <a:xfrm>
            <a:off x="528320" y="3677920"/>
            <a:ext cx="162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2">
                    <a:lumMod val="50000"/>
                  </a:schemeClr>
                </a:solidFill>
              </a:rPr>
              <a:t>9</a:t>
            </a:r>
            <a:endParaRPr lang="en-IN" sz="10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42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 &amp; Data Pipelines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993874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 4-Tier Cloud &amp; Edge Intelligence Topology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97" y="1339453"/>
            <a:ext cx="7608102" cy="3481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4754" y="1700817"/>
            <a:ext cx="1855022" cy="42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&amp; External Intelligence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4754" y="2181415"/>
            <a:ext cx="1855022" cy="286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Supabase Postgres+PostGIS, RLS, NIM Llama-3.2 Vision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494169" y="2878935"/>
            <a:ext cx="1682983" cy="21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Edge AI &amp; Telemetry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71729" y="3149154"/>
            <a:ext cx="1705423" cy="42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50Hz accel, gyro stabilization, speech-to-text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4754" y="3541392"/>
            <a:ext cx="1682984" cy="21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Mobile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4754" y="3811612"/>
            <a:ext cx="1855022" cy="286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3.x, Riverpod 3.4.2, GoRouter 17.4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1475" y="4925516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"Heavy compute on the edge, spatial queries in the cloud, offline-first fallback at all times."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1475" y="5209679"/>
            <a:ext cx="2647685" cy="1104801"/>
          </a:xfrm>
          <a:prstGeom prst="roundRect">
            <a:avLst>
              <a:gd name="adj" fmla="val 10779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780" y="5360987"/>
            <a:ext cx="234507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Mobile Client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780" y="5623223"/>
            <a:ext cx="234507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3.x · Riverpod 3.4.2 · GoRouter 17.4 · Haptic feedback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01729" y="5209679"/>
            <a:ext cx="2647785" cy="1104801"/>
          </a:xfrm>
          <a:prstGeom prst="roundRect">
            <a:avLst>
              <a:gd name="adj" fmla="val 10779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3034" y="5360987"/>
            <a:ext cx="234517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Edge AI Tier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53034" y="5623223"/>
            <a:ext cx="2345175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50Hz accelerometer · Gyro stabilization · Streaming speech buffers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42082" y="5209679"/>
            <a:ext cx="2647785" cy="1104801"/>
          </a:xfrm>
          <a:prstGeom prst="roundRect">
            <a:avLst>
              <a:gd name="adj" fmla="val 10779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3387" y="5360987"/>
            <a:ext cx="234517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Database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93387" y="5623223"/>
            <a:ext cx="234517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Supabase + PostGIS · RLS policies · Realtime WebSocket channels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82436" y="5209679"/>
            <a:ext cx="2647785" cy="1104801"/>
          </a:xfrm>
          <a:prstGeom prst="roundRect">
            <a:avLst>
              <a:gd name="adj" fmla="val 10779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33740" y="5360987"/>
            <a:ext cx="234517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External Intelligence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033740" y="5623223"/>
            <a:ext cx="234517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NVIDIA NIM Llama-3.2 Vision · Ola Maps vector tiles &amp; geocoding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355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SensorWatch: Autonomous Road Hazard Telemetry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6938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Converting Vehicle Shocks into Cryptographic Civic Evidence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2511028"/>
            <a:ext cx="4523766" cy="256351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7181" y="1470918"/>
            <a:ext cx="3609289" cy="8797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13510" y="1606451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Hardware-Fused Sensing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113510" y="1878211"/>
            <a:ext cx="3287432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Samples </a:t>
            </a:r>
            <a:r>
              <a:rPr lang="en-US" sz="9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userAccelerometerEventStream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 50Hz with gravity mathematically removed by hardware fusion.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7181" y="2430463"/>
            <a:ext cx="3609289" cy="8670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13510" y="2565995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Shock Detection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113510" y="2837755"/>
            <a:ext cx="328743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Calculates 3D Euclidean magnitude. Triggers only when linear acceleration spike exceeds </a:t>
            </a: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2.5g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7181" y="3377307"/>
            <a:ext cx="3609289" cy="10291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13510" y="3512840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Smart Noise Filters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113510" y="3784600"/>
            <a:ext cx="328743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GPS speed deadband (≥ 3 km/h), 1,500ms adaptive cooldown, and rolling baseline filter eliminate false positives.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7181" y="4486275"/>
            <a:ext cx="3609289" cy="10291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13510" y="4621808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Cryptographic Evidence Package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8113510" y="4893568"/>
            <a:ext cx="328743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Auto-captures GPS, speed, timestamp, and peak waveform. Computes a deterministic </a:t>
            </a: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SHA-256 hash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stored in Supabase — preventing tampering or spoofing.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7927181" y="5605264"/>
            <a:ext cx="3609289" cy="509389"/>
          </a:xfrm>
          <a:prstGeom prst="roundRect">
            <a:avLst>
              <a:gd name="adj" fmla="val 21708"/>
            </a:avLst>
          </a:prstGeom>
          <a:solidFill>
            <a:srgbClr val="CEE6FD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0011" y="5728791"/>
            <a:ext cx="153488" cy="1228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26328" y="5707757"/>
            <a:ext cx="3087313" cy="304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                           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328" y="5707757"/>
            <a:ext cx="3087313" cy="300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37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Multilingual Continuous Voice Reporting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5720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Speaking to Your City Naturally in Malayalam, Hindi, and English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2510929"/>
            <a:ext cx="4523766" cy="25635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73267" y="1681807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283368" y="1700907"/>
            <a:ext cx="32531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True Continuous Listening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83368" y="1972667"/>
            <a:ext cx="325310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waveform orb visualization. Allows pauses while thinking — no abrupt mic cutoffs.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973267" y="247962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83368" y="2498725"/>
            <a:ext cx="32531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Live Interactive Transcript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83368" y="2770485"/>
            <a:ext cx="325310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Spoken words appear instantly with direct cursor editing. Citizens can talk, edit, or dictate corrections seamlessly.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973267" y="3277443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83368" y="3296543"/>
            <a:ext cx="32531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Automated Slot Extraction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83368" y="3568303"/>
            <a:ext cx="3253103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Extracts civic category (19 types), severity rating (LOW → EMERGENCY), and landmarks (e.g. "near Pattom bridge").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973267" y="4237385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83368" y="4256484"/>
            <a:ext cx="32531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Community &amp; Lost/Found Controls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83368" y="4528245"/>
            <a:ext cx="325310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Contact sharing toggles, radius selector (5–50 km), and event/expiry date picker — all inside the voice sheet.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973267" y="5035203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283368" y="5054302"/>
            <a:ext cx="325310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Mandatory Photo Proof Gate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83368" y="5326063"/>
            <a:ext cx="325310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Contextual prompt ensures physical evidence is attached before dispatch.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27181" y="5740102"/>
            <a:ext cx="954460" cy="186630"/>
          </a:xfrm>
          <a:prstGeom prst="roundRect">
            <a:avLst>
              <a:gd name="adj" fmla="val 47399"/>
            </a:avLst>
          </a:prstGeom>
          <a:solidFill>
            <a:srgbClr val="CEE6FD"/>
          </a:solidFill>
          <a:ln/>
        </p:spPr>
      </p:sp>
      <p:sp>
        <p:nvSpPr>
          <p:cNvPr id="21" name="Text 18"/>
          <p:cNvSpPr/>
          <p:nvPr/>
        </p:nvSpPr>
        <p:spPr>
          <a:xfrm>
            <a:off x="8000800" y="5776913"/>
            <a:ext cx="141680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ENGLISH (EN-IN)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943057" y="5740102"/>
            <a:ext cx="1152099" cy="186630"/>
          </a:xfrm>
          <a:prstGeom prst="roundRect">
            <a:avLst>
              <a:gd name="adj" fmla="val 47399"/>
            </a:avLst>
          </a:prstGeom>
          <a:solidFill>
            <a:srgbClr val="CEE6FD"/>
          </a:solidFill>
          <a:ln/>
        </p:spPr>
      </p:sp>
      <p:sp>
        <p:nvSpPr>
          <p:cNvPr id="23" name="Text 20"/>
          <p:cNvSpPr/>
          <p:nvPr/>
        </p:nvSpPr>
        <p:spPr>
          <a:xfrm>
            <a:off x="9016675" y="5776913"/>
            <a:ext cx="1614447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MALAYALAM (ML-IN)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0156571" y="5740102"/>
            <a:ext cx="759699" cy="186630"/>
          </a:xfrm>
          <a:prstGeom prst="roundRect">
            <a:avLst>
              <a:gd name="adj" fmla="val 47399"/>
            </a:avLst>
          </a:prstGeom>
          <a:solidFill>
            <a:srgbClr val="CEE6FD"/>
          </a:solidFill>
          <a:ln/>
        </p:spPr>
      </p:sp>
      <p:sp>
        <p:nvSpPr>
          <p:cNvPr id="25" name="Text 22"/>
          <p:cNvSpPr/>
          <p:nvPr/>
        </p:nvSpPr>
        <p:spPr>
          <a:xfrm>
            <a:off x="10230189" y="5776913"/>
            <a:ext cx="1222047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HINDI (HI-IN)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92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Steady-Lock Vision AI &amp; Hazard Verification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984746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Gyroscopic Stabilization Meets NVIDIA NIM Llama-3.2-11B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2511028"/>
            <a:ext cx="4523766" cy="25635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27181" y="1386284"/>
            <a:ext cx="3609289" cy="867073"/>
          </a:xfrm>
          <a:prstGeom prst="roundRect">
            <a:avLst>
              <a:gd name="adj" fmla="val 12753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62711" y="1521817"/>
            <a:ext cx="333823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62711" y="1793577"/>
            <a:ext cx="333823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Shaky, blurry citizen photos cannot be validated by field crews — undermining evidence integrity.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927181" y="2333129"/>
            <a:ext cx="3609289" cy="1029196"/>
          </a:xfrm>
          <a:prstGeom prst="roundRect">
            <a:avLst>
              <a:gd name="adj" fmla="val 10744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62711" y="2468662"/>
            <a:ext cx="333823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Gyro Steady-Lock Gate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62711" y="2740422"/>
            <a:ext cx="3338231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Monitors gyroscope and accelerometer variance. Shutter unlocks </a:t>
            </a: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only when physically steady for 600ms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Green HUD overlay confirms stability.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27181" y="3442097"/>
            <a:ext cx="3609289" cy="1029196"/>
          </a:xfrm>
          <a:prstGeom prst="roundRect">
            <a:avLst>
              <a:gd name="adj" fmla="val 10744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62711" y="3577630"/>
            <a:ext cx="333823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NVIDIA NIM Vision AI Inference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62711" y="3849390"/>
            <a:ext cx="3338231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Leverages </a:t>
            </a:r>
            <a:r>
              <a:rPr lang="en-US" sz="9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Meta Llama-3.2-11B Vision Instruct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NVIDIA NIM. Analyzes images in under 1.5 seconds, returning hazard category, bounding box, and confidence score.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927181" y="4551065"/>
            <a:ext cx="3609289" cy="1029196"/>
          </a:xfrm>
          <a:prstGeom prst="roundRect">
            <a:avLst>
              <a:gd name="adj" fmla="val 10744"/>
            </a:avLst>
          </a:prstGeom>
          <a:solidFill>
            <a:srgbClr val="FFFFFF"/>
          </a:solidFill>
          <a:ln w="12700">
            <a:solidFill>
              <a:srgbClr val="B4CC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62711" y="4686598"/>
            <a:ext cx="333823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Negative Hazard Detection Guard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62711" y="4958358"/>
            <a:ext cx="3338231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Prevents bogus indoor submissions (desks, laptops, clean floors). Displays a polite rejection card rather than forcing a false classification.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927181" y="5670054"/>
            <a:ext cx="3609289" cy="529233"/>
          </a:xfrm>
          <a:prstGeom prst="roundRect">
            <a:avLst>
              <a:gd name="adj" fmla="val 20894"/>
            </a:avLst>
          </a:prstGeom>
          <a:solidFill>
            <a:srgbClr val="CEE6FD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011" y="5793581"/>
            <a:ext cx="153488" cy="12283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26328" y="5772547"/>
            <a:ext cx="3087313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"Hardware-stabilized shutter lock + Edge Vision Intelligence = Zero blurry photos, zero bogus tickets."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Proximity Lost &amp; Found Network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970260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PostGIS Spatial Matching &amp; Cryptographic Dual-Key Handshakes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27" y="1420019"/>
            <a:ext cx="3691044" cy="3691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63523" y="2636738"/>
            <a:ext cx="527304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Nivara's Lost &amp; Found network enables safe, fraud-resistant recovery of vital identity documents — Aadhaar, PAN cards, passports, and driving licenses — through spatial matching and cryptographic verification.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263523" y="3280866"/>
            <a:ext cx="5273047" cy="592733"/>
          </a:xfrm>
          <a:prstGeom prst="roundRect">
            <a:avLst>
              <a:gd name="adj" fmla="val 20090"/>
            </a:avLst>
          </a:prstGeom>
          <a:solidFill>
            <a:srgbClr val="CEE6F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78" y="3424039"/>
            <a:ext cx="165294" cy="1322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93328" y="3397250"/>
            <a:ext cx="471098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"No public identity leaks · No fraud claims · Mutual in-person cryptographic verification."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425" y="5300464"/>
            <a:ext cx="2649471" cy="10596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1829" y="5319514"/>
            <a:ext cx="24600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 km Spatial Radius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31829" y="5581749"/>
            <a:ext cx="2460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PostGIS continuously cross-matches LOST vs. FOUND reports within a 14-day window.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8533" y="5300464"/>
            <a:ext cx="2649471" cy="10596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77937" y="5319514"/>
            <a:ext cx="24600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Dynamic QR + 6-Digit PIN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577937" y="5581749"/>
            <a:ext cx="2460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Two-factor cryptographic handshake prevents unauthorized claims and protects citizen safety.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641" y="5300464"/>
            <a:ext cx="2649471" cy="10596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24045" y="5319514"/>
            <a:ext cx="2460067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Ephemeral WebSocket Channel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324045" y="5788422"/>
            <a:ext cx="2460067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Private </a:t>
            </a:r>
            <a:r>
              <a:rPr lang="en-US" sz="10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handover:{claimId}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channel atomically updates claim status via SECURITY DEFINER RPC.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0749" y="5300464"/>
            <a:ext cx="2649471" cy="10596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70153" y="5319514"/>
            <a:ext cx="24600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Confidential Mode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9070153" y="5581749"/>
            <a:ext cx="246006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Masks sensitive ID details from public feeds while enabling verified recovery.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36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Closed-Loop 3-Way Governance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46981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From Citizen Detection to Field Repair and Community Certification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2792"/>
            <a:ext cx="3622882" cy="642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106" y="248195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Stage 1: Detection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106" y="2814836"/>
            <a:ext cx="33016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Hazard captured via SensorWatch, multilingual voice, or steady-lock AI camera.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702792"/>
            <a:ext cx="3622882" cy="642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4988" y="248195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Stage 2: Triage &amp; Dispatch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444988" y="2814836"/>
            <a:ext cx="33016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Municipal Admin Console inspects severity and assigns task to ward field crew.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702792"/>
            <a:ext cx="3622882" cy="642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7870" y="248195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Stage 3: Field Execution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67870" y="2814836"/>
            <a:ext cx="33016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Field workers receive GPS-routed task cards and log on-site repair details.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450927"/>
            <a:ext cx="3622882" cy="642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106" y="4230092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Stage 4: Photographic Proof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22106" y="4562971"/>
            <a:ext cx="330162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Field worker </a:t>
            </a: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must capture an after-repair photo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 exact GPS coordinates before submitting.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450927"/>
            <a:ext cx="3622882" cy="642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44988" y="4230092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Stage 5: Community Gate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4444988" y="4562971"/>
            <a:ext cx="330162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Nearby citizens verify resolution. </a:t>
            </a: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3 independent confirmations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required to officially close the ticket.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61475" y="5590381"/>
            <a:ext cx="10868745" cy="577255"/>
          </a:xfrm>
          <a:prstGeom prst="roundRect">
            <a:avLst>
              <a:gd name="adj" fmla="val 25049"/>
            </a:avLst>
          </a:prstGeom>
          <a:solidFill>
            <a:srgbClr val="CEE6FD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106" y="5785148"/>
            <a:ext cx="200814" cy="16063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83551" y="5766991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"A municipal ticket is only as real as the community that verifies it."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1224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Consolas</vt:lpstr>
      <vt:lpstr>Instrument Sans SemiBold</vt:lpstr>
      <vt:lpstr>Instrument Sans Medium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ADITHYAN H</cp:lastModifiedBy>
  <cp:revision>2</cp:revision>
  <dcterms:created xsi:type="dcterms:W3CDTF">2026-09-14T07:38:37Z</dcterms:created>
  <dcterms:modified xsi:type="dcterms:W3CDTF">2026-09-14T12:24:31Z</dcterms:modified>
</cp:coreProperties>
</file>